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70" r:id="rId14"/>
  </p:sldIdLst>
  <p:sldSz cx="14630400" cy="8229600"/>
  <p:notesSz cx="8229600" cy="14630400"/>
  <p:embeddedFontLst>
    <p:embeddedFont>
      <p:font typeface="Open Sans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7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bidullah@uetpeshawar.edu.p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8.svg"/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6.svg"/><Relationship Id="rId5" Type="http://schemas.openxmlformats.org/officeDocument/2006/relationships/image" Target="../media/image-9-4.svg"/><Relationship Id="rId4" Type="http://schemas.openxmlformats.org/officeDocument/2006/relationships/image" Target="../media/image-9-2.svg"/><Relationship Id="rId9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" y="1"/>
            <a:ext cx="1460639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19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IoT-Based Anti-Theft Floor Mat with Email Alerts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project proposal from the Department of Electrical Engineering, University of Engineering and Technology, Peshawar.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116" y="431483"/>
            <a:ext cx="4066937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Team &amp; Supervision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49116" y="1200269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9116" y="1592461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Aqeel Khan (22JZELE0461)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9116" y="1898333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Mashal Ahmad (22JZELE0466)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9116" y="2204204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Mobeen Dawood Khan (22JZELE0493)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31273" y="502146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31273" y="715863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Engr. Abid Ullah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23866" y="998250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abidullah@uetpeshawar.edu.pk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1360011"/>
            <a:ext cx="6807200" cy="555894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4630400" cy="2698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023" y="3285649"/>
            <a:ext cx="5264587" cy="53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Addressing a Critical Need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754023" y="4147304"/>
            <a:ext cx="1312235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increasing demand for smart security systems highlights a gap in the market. Traditional security solutions often fall short due to high costs, complex installations, or a lack of immediate remote notification capabilities.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54023" y="5079206"/>
            <a:ext cx="6453426" cy="2562820"/>
          </a:xfrm>
          <a:prstGeom prst="roundRect">
            <a:avLst>
              <a:gd name="adj" fmla="val 1261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9887" y="5325070"/>
            <a:ext cx="27316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Conventional Systems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99887" y="5790843"/>
            <a:ext cx="596169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Costly CCTV setups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99887" y="6211014"/>
            <a:ext cx="596169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infrared alarms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99887" y="6631186"/>
            <a:ext cx="596169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portability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99887" y="7051358"/>
            <a:ext cx="596169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instant alerts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22833" y="5079206"/>
            <a:ext cx="6453545" cy="2562820"/>
          </a:xfrm>
          <a:prstGeom prst="roundRect">
            <a:avLst>
              <a:gd name="adj" fmla="val 1261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8697" y="5325070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Our Solution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668697" y="5790843"/>
            <a:ext cx="596181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Low-cost &amp; efficient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68697" y="6211014"/>
            <a:ext cx="596181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Portable design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668697" y="6631186"/>
            <a:ext cx="596181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Instant Gmail alerts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68697" y="7051358"/>
            <a:ext cx="596181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installation</a:t>
            </a:r>
            <a:endParaRPr lang="en-US" sz="1650" dirty="0"/>
          </a:p>
        </p:txBody>
      </p:sp>
      <p:sp>
        <p:nvSpPr>
          <p:cNvPr id="17" name="Rectangle 16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5883" y="780217"/>
            <a:ext cx="3597593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15883" y="1499711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aims to develop a cost-effective, portable, and efficient anti-theft solution.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15883" y="1989773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15883" y="2272546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6115883" y="2408158"/>
            <a:ext cx="224849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Design &amp; Develop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115883" y="2797135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 anti-theft floor mat utilizing a Piezoelectric vibration sensor.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15883" y="3399592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15883" y="3682365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8"/>
          <p:cNvSpPr/>
          <p:nvPr/>
        </p:nvSpPr>
        <p:spPr>
          <a:xfrm>
            <a:off x="6115883" y="3817977"/>
            <a:ext cx="270045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Interface &amp; Communicate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115883" y="4206954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Arduino and NodeMCU (ESP8266) for signal processing and wireless communication.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15883" y="4809411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15883" y="5092184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5" name="Text 12"/>
          <p:cNvSpPr/>
          <p:nvPr/>
        </p:nvSpPr>
        <p:spPr>
          <a:xfrm>
            <a:off x="6115883" y="5227796"/>
            <a:ext cx="224849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Alerts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115883" y="5616773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IFTTT webhooks to send instant Gmail alerts upon vibration or pressure detection.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15883" y="6219230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15883" y="6502003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9" name="Text 16"/>
          <p:cNvSpPr/>
          <p:nvPr/>
        </p:nvSpPr>
        <p:spPr>
          <a:xfrm>
            <a:off x="6115883" y="6637615"/>
            <a:ext cx="228207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Evaluate Performance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115883" y="7026593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 system accuracy and response time for effective intrusion detection.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565071"/>
            <a:ext cx="5997059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Overview: 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257" y="1489829"/>
            <a:ext cx="13191887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uses a piezoelectric sensor to detect mechanical stress, triggering an alert via a Wi-Fi-connected NodeMCU.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57" y="1572905"/>
            <a:ext cx="13083183" cy="56417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3905" y="6349813"/>
            <a:ext cx="2968137" cy="37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Notify via IFTTT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653905" y="4942640"/>
            <a:ext cx="2968137" cy="37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Send Alert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653905" y="3704397"/>
            <a:ext cx="2968137" cy="37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Process Signal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53904" y="2364143"/>
            <a:ext cx="2968137" cy="37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Detect Vibration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63073" y="6807054"/>
            <a:ext cx="8279271" cy="387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seamless integration ensures immediate notification of potential security breaches.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76" y="389573"/>
            <a:ext cx="4232672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&amp; Software Essentials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5776" y="1097756"/>
            <a:ext cx="240684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Requirements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95776" y="1522690"/>
            <a:ext cx="6646664" cy="2897267"/>
          </a:xfrm>
          <a:prstGeom prst="roundRect">
            <a:avLst>
              <a:gd name="adj" fmla="val 7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3396" y="1530310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5081" y="1622822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69776" y="1622822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3396" y="1942028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5081" y="2034540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/ Nano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69776" y="2034540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analog signal from Piezo 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3396" y="2353747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5081" y="2446258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NodeMCU (ESP8266)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69776" y="2446258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 connectivity, sends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3396" y="2765465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5081" y="2857976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Piezoelectric Sensor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69776" y="2857976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vibration/mechanical stress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3396" y="3177183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5081" y="3269694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10kΩ Resistor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69776" y="3269694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Voltage divider circuit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3396" y="3588901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5081" y="3681413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Breadboard &amp; Wires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69776" y="3681413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Circuit connections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3396" y="4000619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5081" y="4093131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Supply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69776" y="4093131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Powers Arduino &amp; NodeMCU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5580" y="1097756"/>
            <a:ext cx="2298502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Software Requirements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495580" y="1504950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IDE (for coding)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5580" y="1781175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IFTTT Account (for Gmail alerts)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5580" y="2057400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 Connection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5580" y="2333625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Gmail Account (for receiving alerts)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31" y="2672953"/>
            <a:ext cx="5145929" cy="486330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604" y="502563"/>
            <a:ext cx="4611767" cy="456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Working Principle in Detail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303770" y="1324928"/>
            <a:ext cx="22860" cy="6402348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4" name="Shape 2"/>
          <p:cNvSpPr/>
          <p:nvPr/>
        </p:nvSpPr>
        <p:spPr>
          <a:xfrm>
            <a:off x="6972538" y="1518999"/>
            <a:ext cx="365522" cy="22860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5" name="Shape 3"/>
          <p:cNvSpPr/>
          <p:nvPr/>
        </p:nvSpPr>
        <p:spPr>
          <a:xfrm>
            <a:off x="7246680" y="1461909"/>
            <a:ext cx="137041" cy="137041"/>
          </a:xfrm>
          <a:prstGeom prst="roundRect">
            <a:avLst>
              <a:gd name="adj" fmla="val 333623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4299704" y="1387673"/>
            <a:ext cx="2284452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Vibration Detection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9604" y="1782842"/>
            <a:ext cx="5944553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Piezo sensor under the mat detects vibrations from footsteps or tampering.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92340" y="2615565"/>
            <a:ext cx="365522" cy="22860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9" name="Shape 7"/>
          <p:cNvSpPr/>
          <p:nvPr/>
        </p:nvSpPr>
        <p:spPr>
          <a:xfrm>
            <a:off x="7246680" y="2558475"/>
            <a:ext cx="137041" cy="137041"/>
          </a:xfrm>
          <a:prstGeom prst="roundRect">
            <a:avLst>
              <a:gd name="adj" fmla="val 333623"/>
            </a:avLst>
          </a:prstGeom>
          <a:solidFill>
            <a:srgbClr val="101014"/>
          </a:solidFill>
          <a:ln/>
        </p:spPr>
      </p:sp>
      <p:sp>
        <p:nvSpPr>
          <p:cNvPr id="10" name="Text 8"/>
          <p:cNvSpPr/>
          <p:nvPr/>
        </p:nvSpPr>
        <p:spPr>
          <a:xfrm>
            <a:off x="8046244" y="2484239"/>
            <a:ext cx="2284452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Signal Generation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046244" y="2879408"/>
            <a:ext cx="594455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generates analog voltage proportional to vibration intensity.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72538" y="3560683"/>
            <a:ext cx="365522" cy="22860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13" name="Shape 11"/>
          <p:cNvSpPr/>
          <p:nvPr/>
        </p:nvSpPr>
        <p:spPr>
          <a:xfrm>
            <a:off x="7246680" y="3503593"/>
            <a:ext cx="137041" cy="137041"/>
          </a:xfrm>
          <a:prstGeom prst="roundRect">
            <a:avLst>
              <a:gd name="adj" fmla="val 333623"/>
            </a:avLst>
          </a:prstGeom>
          <a:solidFill>
            <a:srgbClr val="10101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9704" y="3429357"/>
            <a:ext cx="2284452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Threshold Check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9604" y="3824526"/>
            <a:ext cx="5944553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reads and checks if sensor value exceeds a defined threshold.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2340" y="4505920"/>
            <a:ext cx="365522" cy="22860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6680" y="4448830"/>
            <a:ext cx="137041" cy="137041"/>
          </a:xfrm>
          <a:prstGeom prst="roundRect">
            <a:avLst>
              <a:gd name="adj" fmla="val 333623"/>
            </a:avLst>
          </a:prstGeom>
          <a:solidFill>
            <a:srgbClr val="101014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244" y="4374594"/>
            <a:ext cx="2391489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Message Transmission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046244" y="4769763"/>
            <a:ext cx="5944553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triggered, Arduino sends an "ALERT" message to NodeMCU via serial communication.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72538" y="5451158"/>
            <a:ext cx="365522" cy="22860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6680" y="5394067"/>
            <a:ext cx="137041" cy="137041"/>
          </a:xfrm>
          <a:prstGeom prst="roundRect">
            <a:avLst>
              <a:gd name="adj" fmla="val 333623"/>
            </a:avLst>
          </a:prstGeom>
          <a:solidFill>
            <a:srgbClr val="101014"/>
          </a:solidFill>
          <a:ln/>
        </p:spPr>
      </p:sp>
      <p:sp>
        <p:nvSpPr>
          <p:cNvPr id="22" name="Text 20"/>
          <p:cNvSpPr/>
          <p:nvPr/>
        </p:nvSpPr>
        <p:spPr>
          <a:xfrm>
            <a:off x="4299704" y="5319832"/>
            <a:ext cx="2284452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Webhook Activation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39604" y="5715000"/>
            <a:ext cx="5944553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Wi-Fi-connected NodeMCU sends a web request to IFTTT, which executes the Gmail service.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92340" y="6396395"/>
            <a:ext cx="365522" cy="22860"/>
          </a:xfrm>
          <a:prstGeom prst="roundRect">
            <a:avLst>
              <a:gd name="adj" fmla="val 119924"/>
            </a:avLst>
          </a:prstGeom>
          <a:solidFill>
            <a:srgbClr val="C6C6D2"/>
          </a:solidFill>
          <a:ln/>
        </p:spPr>
      </p:sp>
      <p:sp>
        <p:nvSpPr>
          <p:cNvPr id="25" name="Shape 23"/>
          <p:cNvSpPr/>
          <p:nvPr/>
        </p:nvSpPr>
        <p:spPr>
          <a:xfrm>
            <a:off x="7246680" y="6339304"/>
            <a:ext cx="137041" cy="137041"/>
          </a:xfrm>
          <a:prstGeom prst="roundRect">
            <a:avLst>
              <a:gd name="adj" fmla="val 333623"/>
            </a:avLst>
          </a:prstGeom>
          <a:solidFill>
            <a:srgbClr val="101014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244" y="6265069"/>
            <a:ext cx="2284452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Email Notification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8046244" y="6660237"/>
            <a:ext cx="5944553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email like "Alert! Vibration detected on floor mat — possible intrusion." is sent.</a:t>
            </a:r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76" y="389573"/>
            <a:ext cx="5802749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Expected Outcomes &amp; Versatile Applications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5776" y="1097756"/>
            <a:ext cx="2125147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Expected Results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5776" y="1504950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 vibration detection by Piezo sensor.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5776" y="1781175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Gmail alert within 5–10 seconds of detection.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5776" y="2057400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false triggers post-calibration.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5776" y="2333625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 of a low-cost, portable anti-theft system.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76" y="2609850"/>
            <a:ext cx="4817904" cy="4817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5580" y="1097756"/>
            <a:ext cx="2125147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Applications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95580" y="1504950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 and office entry monitoring.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5580" y="1781175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Securing valuable items or safes.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5580" y="2057400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Detecting intrusion in restricted areas.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5580" y="2333625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Portable security for exhibitions or shops.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620" y="2644999"/>
            <a:ext cx="4798020" cy="47980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1" y="637185"/>
            <a:ext cx="6167120" cy="3473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6880" y="159965"/>
            <a:ext cx="297688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Simulations </a:t>
            </a:r>
            <a:endParaRPr lang="en-US" sz="2850" b="1" dirty="0">
              <a:solidFill>
                <a:srgbClr val="101014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90880"/>
            <a:ext cx="6284682" cy="3376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31466" y="4006674"/>
            <a:ext cx="61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piezo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detect someone on location 2</a:t>
            </a:r>
            <a:r>
              <a:rPr lang="en-US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376006"/>
            <a:ext cx="6284682" cy="2757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31466" y="224167"/>
            <a:ext cx="32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System Activated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" y="4447469"/>
            <a:ext cx="6167120" cy="26864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2440" y="4023350"/>
            <a:ext cx="61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piezo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detect someone on location 1</a:t>
            </a:r>
            <a:r>
              <a:rPr lang="en-US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969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818" y="506611"/>
            <a:ext cx="5447348" cy="45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Advantages &amp; Future Expansion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42818" y="1333024"/>
            <a:ext cx="6580584" cy="17926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826413" y="1516618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0101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860" y="1668066"/>
            <a:ext cx="247888" cy="247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6413" y="2251115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Cost-Effective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6413" y="2648188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Low-cost, easy-to-build IoT security system.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997" y="1333024"/>
            <a:ext cx="6580584" cy="17926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9" name="Shape 6"/>
          <p:cNvSpPr/>
          <p:nvPr/>
        </p:nvSpPr>
        <p:spPr>
          <a:xfrm>
            <a:off x="7590592" y="1516618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0101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2039" y="1668066"/>
            <a:ext cx="247888" cy="247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90592" y="2251115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Wireless Alerts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590592" y="2648188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Instant notifications directly to Gmail.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2818" y="3309223"/>
            <a:ext cx="6580584" cy="17926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6413" y="3492818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0101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860" y="3644265"/>
            <a:ext cx="247888" cy="247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413" y="4227314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Quick Response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6413" y="4624388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Highly sensitive detection with fast alert times.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406997" y="3309223"/>
            <a:ext cx="6580584" cy="17926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9" name="Shape 14"/>
          <p:cNvSpPr/>
          <p:nvPr/>
        </p:nvSpPr>
        <p:spPr>
          <a:xfrm>
            <a:off x="7590592" y="3492818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0101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2039" y="3644265"/>
            <a:ext cx="247888" cy="247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90592" y="4227314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Scalable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590592" y="4624388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Customizable for various security needs.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2818" y="5377220"/>
            <a:ext cx="2797731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Enhancements</a:t>
            </a:r>
            <a:endParaRPr lang="en-US" sz="2150" dirty="0"/>
          </a:p>
        </p:txBody>
      </p:sp>
      <p:sp>
        <p:nvSpPr>
          <p:cNvPr id="24" name="Text 18"/>
          <p:cNvSpPr/>
          <p:nvPr/>
        </p:nvSpPr>
        <p:spPr>
          <a:xfrm>
            <a:off x="642818" y="5996940"/>
            <a:ext cx="13344763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Blynk or Telegram for mobile notifications.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62661" y="6272331"/>
            <a:ext cx="13344763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local buzzer and LED indicators.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62661" y="6530219"/>
            <a:ext cx="13344763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multiple piezo sensors for wider coverage.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2818" y="6776357"/>
            <a:ext cx="13344763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intrusion logs in Google Sheets.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42818" y="7042031"/>
            <a:ext cx="13344763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a camera module for intruder image capture.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4858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Conclusion: A New Era of Anti-Theft Security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19897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successfully demonstrates a low-cost, IoT-based anti-theft system. By effectively combining a Piezoelectric vibration sensor, Arduino, and NodeMCU, we provide an innovative and practical solution for theft prevention.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33951" y="5160883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"Our system detects vibration events and sends instant Gmail alerts, offering enhanced security for residential and commercial environments."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905732"/>
            <a:ext cx="30480" cy="1599009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Rectangle 6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74430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19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752</Words>
  <Application>Microsoft Office PowerPoint</Application>
  <PresentationFormat>Custom</PresentationFormat>
  <Paragraphs>132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Open Sans</vt:lpstr>
      <vt:lpstr>Calibri</vt:lpstr>
      <vt:lpstr>Playfair Display Bold</vt:lpstr>
      <vt:lpstr>Times New Roman</vt:lpstr>
      <vt:lpstr>Playfair Display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Datacenter1</cp:lastModifiedBy>
  <cp:revision>8</cp:revision>
  <dcterms:created xsi:type="dcterms:W3CDTF">2025-12-02T11:51:51Z</dcterms:created>
  <dcterms:modified xsi:type="dcterms:W3CDTF">2025-12-03T12:43:22Z</dcterms:modified>
</cp:coreProperties>
</file>