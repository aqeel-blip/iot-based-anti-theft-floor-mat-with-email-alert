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21945600" cy="51206400"/>
  <p:notesSz cx="9144000" cy="6858000"/>
  <p:defaultTextStyle>
    <a:defPPr>
      <a:defRPr lang="en-US"/>
    </a:defPPr>
    <a:lvl1pPr marL="0" algn="l" defTabSz="3511296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1pPr>
    <a:lvl2pPr marL="1755648" algn="l" defTabSz="3511296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2pPr>
    <a:lvl3pPr marL="3511296" algn="l" defTabSz="3511296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3pPr>
    <a:lvl4pPr marL="5266944" algn="l" defTabSz="3511296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4pPr>
    <a:lvl5pPr marL="7022592" algn="l" defTabSz="3511296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5pPr>
    <a:lvl6pPr marL="8778240" algn="l" defTabSz="3511296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6pPr>
    <a:lvl7pPr marL="10533888" algn="l" defTabSz="3511296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7pPr>
    <a:lvl8pPr marL="12289536" algn="l" defTabSz="3511296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8pPr>
    <a:lvl9pPr marL="14045184" algn="l" defTabSz="3511296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33" d="100"/>
          <a:sy n="33" d="100"/>
        </p:scale>
        <p:origin x="928" y="-7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59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645920" y="8380311"/>
            <a:ext cx="18653760" cy="17827413"/>
          </a:xfrm>
        </p:spPr>
        <p:txBody>
          <a:bodyPr anchor="b"/>
          <a:lstStyle>
            <a:lvl1pPr algn="ctr"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2743200" y="26895217"/>
            <a:ext cx="16459200" cy="12363023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80" indent="0" algn="ctr">
              <a:buNone/>
              <a:defRPr sz="4800"/>
            </a:lvl2pPr>
            <a:lvl3pPr marL="2194560" indent="0" algn="ctr">
              <a:buNone/>
              <a:defRPr sz="4320"/>
            </a:lvl3pPr>
            <a:lvl4pPr marL="3291840" indent="0" algn="ctr">
              <a:buNone/>
              <a:defRPr sz="3840"/>
            </a:lvl4pPr>
            <a:lvl5pPr marL="4389120" indent="0" algn="ctr">
              <a:buNone/>
              <a:defRPr sz="3840"/>
            </a:lvl5pPr>
            <a:lvl6pPr marL="5486400" indent="0" algn="ctr">
              <a:buNone/>
              <a:defRPr sz="3840"/>
            </a:lvl6pPr>
            <a:lvl7pPr marL="6583680" indent="0" algn="ctr">
              <a:buNone/>
              <a:defRPr sz="3840"/>
            </a:lvl7pPr>
            <a:lvl8pPr marL="7680960" indent="0" algn="ctr">
              <a:buNone/>
              <a:defRPr sz="3840"/>
            </a:lvl8pPr>
            <a:lvl9pPr marL="8778240" indent="0" algn="ctr">
              <a:buNone/>
              <a:defRPr sz="3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8F93C-3704-44D7-B8CD-893E971B0D5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D603A-70D5-4675-BC58-CC3A6719081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8F93C-3704-44D7-B8CD-893E971B0D5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D603A-70D5-4675-BC58-CC3A6719081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1497331" y="12766055"/>
            <a:ext cx="18928080" cy="21300436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30" name="Text Placeholder 2"/>
          <p:cNvSpPr>
            <a:spLocks noGrp="1"/>
          </p:cNvSpPr>
          <p:nvPr>
            <p:ph type="body" idx="1"/>
          </p:nvPr>
        </p:nvSpPr>
        <p:spPr>
          <a:xfrm>
            <a:off x="1497331" y="34268002"/>
            <a:ext cx="18928080" cy="11201396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/>
                </a:solidFill>
              </a:defRPr>
            </a:lvl1pPr>
            <a:lvl2pPr marL="109728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19456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3pPr>
            <a:lvl4pPr marL="32918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4pPr>
            <a:lvl5pPr marL="438912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5pPr>
            <a:lvl6pPr marL="548640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6pPr>
            <a:lvl7pPr marL="658368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7pPr>
            <a:lvl8pPr marL="768096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8pPr>
            <a:lvl9pPr marL="87782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8F93C-3704-44D7-B8CD-893E971B0D5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10486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D603A-70D5-4675-BC58-CC3A6719081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35" name="Content Placeholder 2"/>
          <p:cNvSpPr>
            <a:spLocks noGrp="1"/>
          </p:cNvSpPr>
          <p:nvPr>
            <p:ph sz="half" idx="1"/>
          </p:nvPr>
        </p:nvSpPr>
        <p:spPr>
          <a:xfrm>
            <a:off x="1508760" y="13631334"/>
            <a:ext cx="9326880" cy="32489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36" name="Content Placeholder 3"/>
          <p:cNvSpPr>
            <a:spLocks noGrp="1"/>
          </p:cNvSpPr>
          <p:nvPr>
            <p:ph sz="half" idx="2"/>
          </p:nvPr>
        </p:nvSpPr>
        <p:spPr>
          <a:xfrm>
            <a:off x="11109960" y="13631334"/>
            <a:ext cx="9326880" cy="32489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3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8F93C-3704-44D7-B8CD-893E971B0D5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104863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D603A-70D5-4675-BC58-CC3A6719081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>
          <a:xfrm>
            <a:off x="1511618" y="2726278"/>
            <a:ext cx="18928080" cy="98975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41" name="Text Placeholder 2"/>
          <p:cNvSpPr>
            <a:spLocks noGrp="1"/>
          </p:cNvSpPr>
          <p:nvPr>
            <p:ph type="body" idx="1"/>
          </p:nvPr>
        </p:nvSpPr>
        <p:spPr>
          <a:xfrm>
            <a:off x="1511621" y="12552684"/>
            <a:ext cx="9284016" cy="6151876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2" name="Content Placeholder 3"/>
          <p:cNvSpPr>
            <a:spLocks noGrp="1"/>
          </p:cNvSpPr>
          <p:nvPr>
            <p:ph sz="half" idx="2"/>
          </p:nvPr>
        </p:nvSpPr>
        <p:spPr>
          <a:xfrm>
            <a:off x="1511621" y="18704560"/>
            <a:ext cx="9284016" cy="275115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4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09961" y="12552684"/>
            <a:ext cx="9329738" cy="6151876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4" name="Content Placeholder 5"/>
          <p:cNvSpPr>
            <a:spLocks noGrp="1"/>
          </p:cNvSpPr>
          <p:nvPr>
            <p:ph sz="quarter" idx="4"/>
          </p:nvPr>
        </p:nvSpPr>
        <p:spPr>
          <a:xfrm>
            <a:off x="11109961" y="18704560"/>
            <a:ext cx="9329738" cy="275115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4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8F93C-3704-44D7-B8CD-893E971B0D5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104864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4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D603A-70D5-4675-BC58-CC3A6719081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0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8F93C-3704-44D7-B8CD-893E971B0D5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104860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0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D603A-70D5-4675-BC58-CC3A6719081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8F93C-3704-44D7-B8CD-893E971B0D5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104864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5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D603A-70D5-4675-BC58-CC3A6719081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>
          <a:xfrm>
            <a:off x="1511619" y="3413760"/>
            <a:ext cx="7078027" cy="1194816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52" name="Content Placeholder 2"/>
          <p:cNvSpPr>
            <a:spLocks noGrp="1"/>
          </p:cNvSpPr>
          <p:nvPr>
            <p:ph idx="1"/>
          </p:nvPr>
        </p:nvSpPr>
        <p:spPr>
          <a:xfrm>
            <a:off x="9329738" y="7372785"/>
            <a:ext cx="11109960" cy="36389733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53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15361920"/>
            <a:ext cx="7078027" cy="28459857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8F93C-3704-44D7-B8CD-893E971B0D5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10486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D603A-70D5-4675-BC58-CC3A6719081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1511619" y="3413760"/>
            <a:ext cx="7078027" cy="1194816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19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29738" y="7372785"/>
            <a:ext cx="11109960" cy="36389733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48620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15361920"/>
            <a:ext cx="7078027" cy="28459857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8F93C-3704-44D7-B8CD-893E971B0D5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10486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D603A-70D5-4675-BC58-CC3A6719081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2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2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8F93C-3704-44D7-B8CD-893E971B0D5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104862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D603A-70D5-4675-BC58-CC3A6719081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Vertical Title 1"/>
          <p:cNvSpPr>
            <a:spLocks noGrp="1"/>
          </p:cNvSpPr>
          <p:nvPr>
            <p:ph type="title" orient="vert"/>
          </p:nvPr>
        </p:nvSpPr>
        <p:spPr>
          <a:xfrm>
            <a:off x="15704821" y="2726267"/>
            <a:ext cx="4732020" cy="433950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0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761" y="2726267"/>
            <a:ext cx="13921740" cy="433950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8F93C-3704-44D7-B8CD-893E971B0D5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D603A-70D5-4675-BC58-CC3A6719081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60000"/>
                <a:lumOff val="40000"/>
              </a:schemeClr>
            </a:gs>
            <a:gs pos="100000">
              <a:schemeClr val="accent1">
                <a:lumMod val="45000"/>
                <a:lumOff val="5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1508760" y="2726278"/>
            <a:ext cx="18928080" cy="9897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1508760" y="13631334"/>
            <a:ext cx="18928080" cy="32489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1508760" y="47460758"/>
            <a:ext cx="493776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8F93C-3704-44D7-B8CD-893E971B0D5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9480" y="47460758"/>
            <a:ext cx="740664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99080" y="47460758"/>
            <a:ext cx="493776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D603A-70D5-4675-BC58-CC3A6719081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60000"/>
                <a:lumOff val="40000"/>
              </a:schemeClr>
            </a:gs>
            <a:gs pos="100000">
              <a:schemeClr val="accent1">
                <a:lumMod val="45000"/>
                <a:lumOff val="5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extBox 3"/>
          <p:cNvSpPr txBox="1"/>
          <p:nvPr/>
        </p:nvSpPr>
        <p:spPr>
          <a:xfrm>
            <a:off x="5582654" y="724692"/>
            <a:ext cx="15592926" cy="14465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4400" b="1" dirty="0"/>
              <a:t>IoT-Based Anti-Theft Floor Mat with Face Recognition and Email Alert System</a:t>
            </a:r>
            <a:endParaRPr lang="en-GB" sz="4400" b="1" dirty="0">
              <a:latin typeface="Times New Roman"/>
              <a:cs typeface="Times New Roman"/>
            </a:endParaRPr>
          </a:p>
        </p:txBody>
      </p:sp>
      <p:pic>
        <p:nvPicPr>
          <p:cNvPr id="2097152" name="Picture 10" descr="Related 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9400" y="724692"/>
            <a:ext cx="4204178" cy="4705767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7" name="TextBox 8"/>
          <p:cNvSpPr txBox="1"/>
          <p:nvPr/>
        </p:nvSpPr>
        <p:spPr>
          <a:xfrm>
            <a:off x="6775450" y="2600522"/>
            <a:ext cx="13658850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spc="5" dirty="0">
                <a:latin typeface="Arial MT"/>
                <a:cs typeface="Arial MT"/>
              </a:rPr>
              <a:t> </a:t>
            </a:r>
            <a:r>
              <a:rPr lang="en-US" sz="3200" b="1" spc="5" dirty="0">
                <a:latin typeface="Arial MT"/>
                <a:cs typeface="Arial MT"/>
              </a:rPr>
              <a:t>Members:</a:t>
            </a:r>
            <a:r>
              <a:rPr lang="en-US" sz="3200" b="1" spc="-15" dirty="0">
                <a:latin typeface="Arial MT"/>
                <a:cs typeface="Arial MT"/>
              </a:rPr>
              <a:t> </a:t>
            </a:r>
            <a:r>
              <a:rPr lang="en-US" sz="3200" spc="-15" dirty="0">
                <a:latin typeface="Arial MT"/>
                <a:cs typeface="Arial MT"/>
              </a:rPr>
              <a:t>Aqeel khan</a:t>
            </a:r>
            <a:r>
              <a:rPr lang="en-US" sz="3200" spc="5" dirty="0">
                <a:latin typeface="Arial MT"/>
                <a:cs typeface="Arial MT"/>
              </a:rPr>
              <a:t>, Mashal Ahmad, Mobeen Dawood Khan</a:t>
            </a:r>
            <a:endParaRPr lang="en-US" sz="3200" dirty="0">
              <a:latin typeface="Arial MT"/>
              <a:cs typeface="Arial MT"/>
            </a:endParaRPr>
          </a:p>
          <a:p>
            <a:r>
              <a:rPr lang="en-US" sz="3200" spc="-280" dirty="0">
                <a:latin typeface="Arial MT"/>
                <a:cs typeface="Arial MT"/>
              </a:rPr>
              <a:t>                                     </a:t>
            </a:r>
            <a:r>
              <a:rPr lang="en-US" sz="3200" spc="5" dirty="0">
                <a:latin typeface="Arial MT"/>
                <a:cs typeface="Arial MT"/>
              </a:rPr>
              <a:t>Supervisor:</a:t>
            </a:r>
            <a:r>
              <a:rPr lang="en-US" sz="3200" spc="-30" dirty="0">
                <a:latin typeface="Arial MT"/>
                <a:cs typeface="Arial MT"/>
              </a:rPr>
              <a:t> </a:t>
            </a:r>
            <a:r>
              <a:rPr lang="en-US" sz="3200" spc="-15" dirty="0">
                <a:latin typeface="Arial MT"/>
                <a:cs typeface="Arial MT"/>
              </a:rPr>
              <a:t>Dr. Abid Ullah </a:t>
            </a:r>
            <a:endParaRPr lang="en-US" sz="3200" spc="5" dirty="0">
              <a:latin typeface="Arial MT"/>
              <a:cs typeface="Arial MT"/>
            </a:endParaRPr>
          </a:p>
        </p:txBody>
      </p:sp>
      <p:sp>
        <p:nvSpPr>
          <p:cNvPr id="1048588" name="TextBox 10"/>
          <p:cNvSpPr txBox="1"/>
          <p:nvPr/>
        </p:nvSpPr>
        <p:spPr>
          <a:xfrm>
            <a:off x="969399" y="5859740"/>
            <a:ext cx="7308327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400" spc="5" dirty="0">
                <a:latin typeface="Arial MT"/>
                <a:cs typeface="Arial MT"/>
              </a:rPr>
              <a:t>SUMMARY &amp; MOTIVATION:</a:t>
            </a:r>
            <a:endParaRPr lang="en-US" sz="4400" dirty="0">
              <a:latin typeface="Arial MT"/>
              <a:cs typeface="Arial MT"/>
            </a:endParaRPr>
          </a:p>
        </p:txBody>
      </p:sp>
      <p:sp>
        <p:nvSpPr>
          <p:cNvPr id="1048589" name="TextBox 11"/>
          <p:cNvSpPr txBox="1"/>
          <p:nvPr/>
        </p:nvSpPr>
        <p:spPr>
          <a:xfrm>
            <a:off x="5462336" y="4107020"/>
            <a:ext cx="15424484" cy="1285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spc="-5" dirty="0">
                <a:latin typeface="Arial MT"/>
                <a:cs typeface="Arial MT"/>
              </a:rPr>
              <a:t>Department</a:t>
            </a:r>
            <a:r>
              <a:rPr lang="en-US" sz="4000" spc="-25" dirty="0">
                <a:latin typeface="Arial MT"/>
                <a:cs typeface="Arial MT"/>
              </a:rPr>
              <a:t> </a:t>
            </a:r>
            <a:r>
              <a:rPr lang="en-US" sz="4000" spc="-5" dirty="0">
                <a:latin typeface="Arial MT"/>
                <a:cs typeface="Arial MT"/>
              </a:rPr>
              <a:t>of</a:t>
            </a:r>
            <a:r>
              <a:rPr lang="en-US" sz="4000" spc="-15" dirty="0">
                <a:latin typeface="Arial MT"/>
                <a:cs typeface="Arial MT"/>
              </a:rPr>
              <a:t> </a:t>
            </a:r>
            <a:r>
              <a:rPr lang="en-US" sz="4000" spc="-5" dirty="0">
                <a:latin typeface="Arial MT"/>
                <a:cs typeface="Arial MT"/>
              </a:rPr>
              <a:t>Electrical</a:t>
            </a:r>
            <a:r>
              <a:rPr lang="en-US" sz="4000" spc="-50" dirty="0">
                <a:latin typeface="Arial MT"/>
                <a:cs typeface="Arial MT"/>
              </a:rPr>
              <a:t> </a:t>
            </a:r>
            <a:r>
              <a:rPr lang="en-US" sz="4000" spc="-5" dirty="0">
                <a:latin typeface="Arial MT"/>
                <a:cs typeface="Arial MT"/>
              </a:rPr>
              <a:t>Engineering</a:t>
            </a:r>
          </a:p>
          <a:p>
            <a:r>
              <a:rPr lang="en-GB" altLang="zh-CN" sz="4000" dirty="0">
                <a:latin typeface="Arial" charset="0"/>
              </a:rPr>
              <a:t>University of Engineering &amp; Technology Peshawar, Jalozai Campus</a:t>
            </a:r>
            <a:endParaRPr lang="en-US" sz="4000" dirty="0"/>
          </a:p>
        </p:txBody>
      </p:sp>
      <p:sp>
        <p:nvSpPr>
          <p:cNvPr id="1048590" name="TextBox 13"/>
          <p:cNvSpPr txBox="1"/>
          <p:nvPr/>
        </p:nvSpPr>
        <p:spPr>
          <a:xfrm>
            <a:off x="1227221" y="7555831"/>
            <a:ext cx="9288379" cy="1120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48591" name="TextBox 14"/>
          <p:cNvSpPr txBox="1"/>
          <p:nvPr/>
        </p:nvSpPr>
        <p:spPr>
          <a:xfrm>
            <a:off x="216567" y="6857999"/>
            <a:ext cx="11141243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Affordable security systems today either just </a:t>
            </a:r>
            <a:r>
              <a:rPr lang="en-US" sz="3200" i="1" dirty="0"/>
              <a:t>record</a:t>
            </a:r>
            <a:r>
              <a:rPr lang="en-US" sz="3200" dirty="0"/>
              <a:t> passively (CCTV) or sound a blind alarm (PIR sensors) — neither can tell an intruder from an authorized person, and PIR sensors falsely trigger from heat, sunlight, or HVAC airflow</a:t>
            </a:r>
            <a:r>
              <a:rPr lang="en-GB" sz="3200" spc="20" dirty="0">
                <a:latin typeface="Arial MT"/>
              </a:rPr>
              <a:t>.</a:t>
            </a:r>
            <a:endParaRPr lang="en-GB" sz="3200" spc="5" dirty="0">
              <a:latin typeface="Arial MT"/>
              <a:cs typeface="Arial M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This project replaces the trigger and adds intelligence: a piezoelectric sensor hidden under a floor mat detects a footstep, an Arduino Nano reads it, a servo-mounted webcam turns and captures the person's face, and Python (OpenCV + </a:t>
            </a:r>
            <a:r>
              <a:rPr lang="en-US" sz="3200" dirty="0" err="1"/>
              <a:t>face_recognition</a:t>
            </a:r>
            <a:r>
              <a:rPr lang="en-US" sz="3200" dirty="0"/>
              <a:t>/</a:t>
            </a:r>
            <a:r>
              <a:rPr lang="en-US" sz="3200" dirty="0" err="1"/>
              <a:t>dlib</a:t>
            </a:r>
            <a:r>
              <a:rPr lang="en-US" sz="3200" dirty="0"/>
              <a:t>) checks it against a pre-enrolled authorized-person database</a:t>
            </a:r>
            <a:endParaRPr lang="en-GB" sz="3200" spc="5" dirty="0">
              <a:latin typeface="Arial MT"/>
              <a:cs typeface="Arial M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If the person is unauthorized, the system sounds a buzzer and instantly emails their photo to the owner via Gmail SMTP — no human has to be watching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Result: 94.7% face recognition accuracy, ~13.5 s from footstep to email alert, and a total hardware cost of only ~$30.</a:t>
            </a:r>
            <a:endParaRPr lang="en-GB" sz="3200" dirty="0"/>
          </a:p>
        </p:txBody>
      </p:sp>
      <p:sp>
        <p:nvSpPr>
          <p:cNvPr id="1048592" name="TextBox 4"/>
          <p:cNvSpPr txBox="1"/>
          <p:nvPr/>
        </p:nvSpPr>
        <p:spPr>
          <a:xfrm>
            <a:off x="969399" y="14490548"/>
            <a:ext cx="4950138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4400" dirty="0">
                <a:latin typeface="Arial MT"/>
              </a:rPr>
              <a:t>METHODOLOGY :</a:t>
            </a:r>
            <a:endParaRPr lang="en-US" sz="4400" dirty="0">
              <a:latin typeface="Arial MT"/>
            </a:endParaRPr>
          </a:p>
        </p:txBody>
      </p:sp>
      <p:sp>
        <p:nvSpPr>
          <p:cNvPr id="1048593" name="TextBox 7"/>
          <p:cNvSpPr txBox="1"/>
          <p:nvPr/>
        </p:nvSpPr>
        <p:spPr>
          <a:xfrm>
            <a:off x="969399" y="18602967"/>
            <a:ext cx="2808517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4400" dirty="0">
                <a:latin typeface="Arial MT"/>
              </a:rPr>
              <a:t> DESIGN:  </a:t>
            </a:r>
            <a:endParaRPr lang="en-US" sz="4400" dirty="0">
              <a:latin typeface="Arial MT"/>
            </a:endParaRPr>
          </a:p>
        </p:txBody>
      </p:sp>
      <p:sp>
        <p:nvSpPr>
          <p:cNvPr id="1048594" name="TextBox 24"/>
          <p:cNvSpPr txBox="1"/>
          <p:nvPr/>
        </p:nvSpPr>
        <p:spPr>
          <a:xfrm>
            <a:off x="794084" y="19635537"/>
            <a:ext cx="1003433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Hardware: </a:t>
            </a:r>
            <a:r>
              <a:rPr lang="en-US" sz="3200" dirty="0"/>
              <a:t>3× 27 mm piezoelectric discs wired in parallel (detection area), Arduino Nano (ATmega328P), SG90 micro servo, 720p USB webcam, 5V active buzzer, signal-conditioning circuit (1MΩ + 100kΩ divider, 1N4148 diode, 100nF capacitor).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 </a:t>
            </a:r>
            <a:r>
              <a:rPr lang="en-US" sz="3200" b="1" dirty="0"/>
              <a:t>Software stack: </a:t>
            </a:r>
            <a:r>
              <a:rPr lang="en-US" sz="3200" dirty="0"/>
              <a:t>Python 3.9+, OpenCV 4.8.0, </a:t>
            </a:r>
            <a:r>
              <a:rPr lang="en-US" sz="3200" dirty="0" err="1"/>
              <a:t>face_recognition</a:t>
            </a:r>
            <a:r>
              <a:rPr lang="en-US" sz="3200" dirty="0"/>
              <a:t> 1.3.0, </a:t>
            </a:r>
            <a:r>
              <a:rPr lang="en-US" sz="3200" dirty="0" err="1"/>
              <a:t>dlib</a:t>
            </a:r>
            <a:r>
              <a:rPr lang="en-US" sz="3200" dirty="0"/>
              <a:t> 19.24.0, </a:t>
            </a:r>
            <a:r>
              <a:rPr lang="en-US" sz="3200" dirty="0" err="1"/>
              <a:t>pyserial</a:t>
            </a:r>
            <a:r>
              <a:rPr lang="en-US" sz="3200" dirty="0"/>
              <a:t>, </a:t>
            </a:r>
            <a:r>
              <a:rPr lang="en-US" sz="3200" dirty="0" err="1"/>
              <a:t>smtplib</a:t>
            </a:r>
            <a:r>
              <a:rPr lang="en-US" sz="3200" dirty="0"/>
              <a:t>, PyCharm IDE.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 </a:t>
            </a:r>
            <a:r>
              <a:rPr lang="en-US" sz="3200" b="1" dirty="0"/>
              <a:t>Total bill of materials</a:t>
            </a:r>
            <a:r>
              <a:rPr lang="en-US" sz="3200" dirty="0"/>
              <a:t>: </a:t>
            </a:r>
            <a:r>
              <a:rPr lang="en-US" sz="3200" b="1" dirty="0"/>
              <a:t>≈ </a:t>
            </a:r>
            <a:r>
              <a:rPr lang="en-US" sz="3200" i="1" dirty="0"/>
              <a:t>$30 USD</a:t>
            </a:r>
            <a:endParaRPr lang="en-GB" sz="3200" i="1" dirty="0">
              <a:latin typeface="Arial MT"/>
            </a:endParaRPr>
          </a:p>
          <a:p>
            <a:endParaRPr lang="en-US" sz="3200" dirty="0">
              <a:latin typeface="Arial MT"/>
            </a:endParaRPr>
          </a:p>
        </p:txBody>
      </p:sp>
      <p:sp>
        <p:nvSpPr>
          <p:cNvPr id="1048595" name="TextBox 26"/>
          <p:cNvSpPr txBox="1"/>
          <p:nvPr/>
        </p:nvSpPr>
        <p:spPr>
          <a:xfrm>
            <a:off x="1227220" y="24262216"/>
            <a:ext cx="5245768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4400">
                <a:latin typeface="Arial MT"/>
              </a:rPr>
              <a:t>IMPLEMENTATION:</a:t>
            </a:r>
            <a:endParaRPr lang="en-US" sz="4400" dirty="0">
              <a:latin typeface="Arial MT"/>
            </a:endParaRPr>
          </a:p>
        </p:txBody>
      </p:sp>
      <p:sp>
        <p:nvSpPr>
          <p:cNvPr id="1048596" name="TextBox 27"/>
          <p:cNvSpPr txBox="1"/>
          <p:nvPr/>
        </p:nvSpPr>
        <p:spPr>
          <a:xfrm>
            <a:off x="853669" y="25205606"/>
            <a:ext cx="1020277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Arial MT"/>
              </a:rPr>
              <a:t>The system integrates piezo sensors with an Arduino Nano and a servo-mounted webcam, communicating with a host PC via serial connection.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Arial MT"/>
              </a:rPr>
              <a:t> When a footstep is detected, the Arduino sends a trigger signal, prompting the Python program to rotate the camera, record video, and perform face recognition on extracted frames.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Arial MT"/>
              </a:rPr>
              <a:t> If a match is identified, access is logged and the system resets; otherwise, a buzzer alert is activated and snapshots are emailed to the user.</a:t>
            </a:r>
            <a:endParaRPr lang="en-GB" sz="3200" dirty="0">
              <a:latin typeface="Arial MT"/>
            </a:endParaRPr>
          </a:p>
        </p:txBody>
      </p:sp>
      <p:sp>
        <p:nvSpPr>
          <p:cNvPr id="1048597" name="TextBox 29"/>
          <p:cNvSpPr txBox="1"/>
          <p:nvPr/>
        </p:nvSpPr>
        <p:spPr>
          <a:xfrm>
            <a:off x="853669" y="31599143"/>
            <a:ext cx="985902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Arial MT"/>
              </a:rPr>
              <a:t> The system was evaluated using 5 authorized and 3 unauthorized subjects, each tested 20 times under varying conditions including lighting (bright, dim, daylight), face angles up to 45°, and with/without masks.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Arial MT"/>
              </a:rPr>
              <a:t> Results showed that all key objectives—including detection rate, false-positive rate, recognition accuracy, latency, email reliability, cost efficiency, and servo accuracy—were successfully achieved or exceeded.</a:t>
            </a:r>
            <a:endParaRPr lang="en-GB" sz="3200" dirty="0">
              <a:latin typeface="Arial MT"/>
            </a:endParaRPr>
          </a:p>
        </p:txBody>
      </p:sp>
      <p:sp>
        <p:nvSpPr>
          <p:cNvPr id="1048598" name="TextBox 31"/>
          <p:cNvSpPr txBox="1"/>
          <p:nvPr/>
        </p:nvSpPr>
        <p:spPr>
          <a:xfrm>
            <a:off x="649131" y="37899574"/>
            <a:ext cx="1006356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latin typeface="Arial MT"/>
              </a:rPr>
              <a:t> Combines piezo sensor, face recognition, and email alerts for a low-cost, secure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latin typeface="Arial MT"/>
              </a:rPr>
              <a:t> Achieved 95.8% detection, 0% false positives, 94.7% accuracy, 13.5 s alerts, 100% email success (~$30 cost).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latin typeface="Arial MT"/>
              </a:rPr>
              <a:t> </a:t>
            </a:r>
            <a:r>
              <a:rPr lang="en-GB" sz="3200" b="1" dirty="0">
                <a:latin typeface="Arial MT"/>
              </a:rPr>
              <a:t>Future work: </a:t>
            </a:r>
            <a:r>
              <a:rPr lang="en-GB" sz="3200" dirty="0">
                <a:latin typeface="Arial MT"/>
              </a:rPr>
              <a:t>multi-zone sensing, better recognition, IR/depth cameras, SMS alerts, and liveness detection.</a:t>
            </a:r>
          </a:p>
        </p:txBody>
      </p:sp>
      <p:sp>
        <p:nvSpPr>
          <p:cNvPr id="1048599" name="TextBox 32"/>
          <p:cNvSpPr txBox="1"/>
          <p:nvPr/>
        </p:nvSpPr>
        <p:spPr>
          <a:xfrm>
            <a:off x="853669" y="42327926"/>
            <a:ext cx="4235115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rial MT"/>
              </a:rPr>
              <a:t>REFRENCES:</a:t>
            </a:r>
          </a:p>
        </p:txBody>
      </p:sp>
      <p:sp>
        <p:nvSpPr>
          <p:cNvPr id="1048600" name="TextBox 33"/>
          <p:cNvSpPr txBox="1"/>
          <p:nvPr/>
        </p:nvSpPr>
        <p:spPr>
          <a:xfrm>
            <a:off x="463277" y="43215120"/>
            <a:ext cx="9546201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Arial MT"/>
              </a:rPr>
              <a:t>[1] J. Koh, J. Park, and Y. Yang, "False alarm reduction in PIR-based security systems," Sensors and Actuators A: Physical, vol. 150, no. 1, pp. 40–47, 2009.</a:t>
            </a:r>
          </a:p>
          <a:p>
            <a:r>
              <a:rPr lang="en-GB" sz="3200" dirty="0">
                <a:latin typeface="Arial MT"/>
              </a:rPr>
              <a:t>[2] A. Geitgey, </a:t>
            </a:r>
            <a:r>
              <a:rPr lang="en-GB" sz="3200" dirty="0" err="1">
                <a:latin typeface="Arial MT"/>
              </a:rPr>
              <a:t>face_recognition</a:t>
            </a:r>
            <a:r>
              <a:rPr lang="en-GB" sz="3200" dirty="0">
                <a:latin typeface="Arial MT"/>
              </a:rPr>
              <a:t>: The World's Simplest Facial Recognition API for Python and the Command Line, GitHub Repository, 2016.</a:t>
            </a:r>
          </a:p>
          <a:p>
            <a:r>
              <a:rPr lang="en-GB" sz="3200" dirty="0">
                <a:latin typeface="Arial MT"/>
              </a:rPr>
              <a:t>[3] F. Schroff, D. </a:t>
            </a:r>
            <a:r>
              <a:rPr lang="en-GB" sz="3200" dirty="0" err="1">
                <a:latin typeface="Arial MT"/>
              </a:rPr>
              <a:t>Kalenichenko</a:t>
            </a:r>
            <a:r>
              <a:rPr lang="en-GB" sz="3200" dirty="0">
                <a:latin typeface="Arial MT"/>
              </a:rPr>
              <a:t>, and J. Philbin, "</a:t>
            </a:r>
            <a:r>
              <a:rPr lang="en-GB" sz="3200" dirty="0" err="1">
                <a:latin typeface="Arial MT"/>
              </a:rPr>
              <a:t>FaceNet</a:t>
            </a:r>
            <a:r>
              <a:rPr lang="en-GB" sz="3200" dirty="0">
                <a:latin typeface="Arial MT"/>
              </a:rPr>
              <a:t>: A unified embedding for</a:t>
            </a:r>
          </a:p>
          <a:p>
            <a:r>
              <a:rPr lang="en-GB" sz="3200" dirty="0">
                <a:latin typeface="Arial MT"/>
              </a:rPr>
              <a:t> face recognition and clustering," in Proc. IE CVPR, 2015, pp. 815–823.</a:t>
            </a:r>
          </a:p>
          <a:p>
            <a:r>
              <a:rPr lang="en-GB" sz="3200" dirty="0">
                <a:latin typeface="Arial MT"/>
              </a:rPr>
              <a:t>[4] A. O. Raji and A. M. </a:t>
            </a:r>
            <a:r>
              <a:rPr lang="en-GB" sz="3200" dirty="0" err="1">
                <a:latin typeface="Arial MT"/>
              </a:rPr>
              <a:t>Zungeru</a:t>
            </a:r>
            <a:r>
              <a:rPr lang="en-GB" sz="3200" dirty="0">
                <a:latin typeface="Arial MT"/>
              </a:rPr>
              <a:t>, "Face recognition-based door access control using Raspberry Pi and OpenCV LBPH," TELKOMNIKA, vol. 18, no. 5, pp. 2618–2627, 2020</a:t>
            </a:r>
          </a:p>
          <a:p>
            <a:r>
              <a:rPr lang="en-GB" sz="3200" dirty="0">
                <a:latin typeface="Arial MT"/>
              </a:rPr>
              <a:t>    </a:t>
            </a:r>
            <a:endParaRPr lang="en-GB" sz="3200" dirty="0"/>
          </a:p>
        </p:txBody>
      </p:sp>
      <p:sp>
        <p:nvSpPr>
          <p:cNvPr id="1048601" name="TextBox 34"/>
          <p:cNvSpPr txBox="1"/>
          <p:nvPr/>
        </p:nvSpPr>
        <p:spPr>
          <a:xfrm>
            <a:off x="1387064" y="36579765"/>
            <a:ext cx="4701501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4800" dirty="0">
                <a:latin typeface="Arial MT"/>
              </a:rPr>
              <a:t>CONCLUSION</a:t>
            </a:r>
            <a:r>
              <a:rPr lang="en-GB" sz="5400" dirty="0">
                <a:latin typeface="Arial MT"/>
              </a:rPr>
              <a:t>:</a:t>
            </a:r>
            <a:endParaRPr lang="en-US" sz="5400" dirty="0">
              <a:latin typeface="Arial MT"/>
            </a:endParaRPr>
          </a:p>
        </p:txBody>
      </p:sp>
      <p:sp>
        <p:nvSpPr>
          <p:cNvPr id="1048602" name="TextBox 36"/>
          <p:cNvSpPr txBox="1"/>
          <p:nvPr/>
        </p:nvSpPr>
        <p:spPr>
          <a:xfrm>
            <a:off x="1000505" y="30420818"/>
            <a:ext cx="7050505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4400">
                <a:latin typeface="Arial MT"/>
              </a:rPr>
              <a:t>TESTING &amp; EVALUATION:</a:t>
            </a:r>
            <a:endParaRPr lang="en-US" sz="4400" dirty="0">
              <a:latin typeface="Arial MT"/>
            </a:endParaRPr>
          </a:p>
        </p:txBody>
      </p:sp>
      <p:sp>
        <p:nvSpPr>
          <p:cNvPr id="1048603" name="TextBox 37"/>
          <p:cNvSpPr txBox="1"/>
          <p:nvPr/>
        </p:nvSpPr>
        <p:spPr>
          <a:xfrm>
            <a:off x="11526254" y="14490548"/>
            <a:ext cx="7580896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4400" dirty="0">
                <a:latin typeface="Arial MT"/>
              </a:rPr>
              <a:t>RESULTS &amp; DISCUSSIONS:</a:t>
            </a:r>
            <a:endParaRPr lang="en-US" sz="4400" dirty="0">
              <a:latin typeface="Arial M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41E3135-AE0A-E740-1D5F-17A0D46289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1085" y="6512313"/>
            <a:ext cx="10077947" cy="7620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2718299-D029-1733-9DE6-CCCDAD8F98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669" y="15523118"/>
            <a:ext cx="10202779" cy="281671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E75061E-AF93-3FA5-EE29-732E9CDB30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15559853"/>
            <a:ext cx="10972800" cy="1118918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632A1B1-3697-FB11-C6F3-C21CFEAF76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408" y="26816044"/>
            <a:ext cx="11300192" cy="109865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F536EC-292A-C4E4-E0FA-8B14B8E3BA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267" y="39996320"/>
            <a:ext cx="12166333" cy="104853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694</Words>
  <Application>Microsoft Office PowerPoint</Application>
  <PresentationFormat>Custom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MT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</dc:creator>
  <cp:lastModifiedBy>Aqeel Khan</cp:lastModifiedBy>
  <cp:revision>10</cp:revision>
  <dcterms:created xsi:type="dcterms:W3CDTF">2021-08-24T05:25:10Z</dcterms:created>
  <dcterms:modified xsi:type="dcterms:W3CDTF">2026-07-20T14:03:08Z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505c1de7599e49099fe7058a9ff7b510_23</vt:lpwstr>
  </property>
</Properties>
</file>