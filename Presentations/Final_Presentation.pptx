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71" r:id="rId2"/>
    <p:sldId id="256" r:id="rId3"/>
    <p:sldId id="257" r:id="rId4"/>
    <p:sldId id="259" r:id="rId5"/>
    <p:sldId id="261" r:id="rId6"/>
    <p:sldId id="266" r:id="rId7"/>
    <p:sldId id="277" r:id="rId8"/>
    <p:sldId id="274" r:id="rId9"/>
    <p:sldId id="278" r:id="rId10"/>
    <p:sldId id="279" r:id="rId11"/>
    <p:sldId id="280" r:id="rId12"/>
    <p:sldId id="281" r:id="rId13"/>
    <p:sldId id="283" r:id="rId14"/>
    <p:sldId id="270" r:id="rId15"/>
  </p:sldIdLst>
  <p:sldSz cx="14630400" cy="8229600"/>
  <p:notesSz cx="8229600" cy="14630400"/>
  <p:embeddedFontLst>
    <p:embeddedFont>
      <p:font typeface="Agency FB" panose="020B0503020202020204" pitchFamily="34" charset="0"/>
      <p:regular r:id="rId17"/>
      <p:bold r:id="rId18"/>
    </p:embeddedFont>
    <p:embeddedFont>
      <p:font typeface="Inter" panose="020B0604020202020204" charset="0"/>
      <p:regular r:id="rId19"/>
    </p:embeddedFont>
    <p:embeddedFont>
      <p:font typeface="Libre Baskerville" panose="02000000000000000000" pitchFamily="2" charset="0"/>
      <p:regular r:id="rId20"/>
    </p:embeddedFont>
    <p:embeddedFont>
      <p:font typeface="Open Sans" panose="020B0606030504020204" pitchFamily="34" charset="0"/>
      <p:regular r:id="rId21"/>
      <p:bold r:id="rId22"/>
    </p:embeddedFont>
    <p:embeddedFont>
      <p:font typeface="Playfair Display Bold" panose="020B0604020202020204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52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77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512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98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5562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75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21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47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abidullah@uetpeshawar.edu.pk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7" y="1"/>
            <a:ext cx="14606393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71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IoT-Based Anti-Theft Floor Mat with Email Alerts</a:t>
            </a:r>
            <a:endParaRPr lang="en-US" sz="4450" dirty="0"/>
          </a:p>
        </p:txBody>
      </p:sp>
      <p:sp>
        <p:nvSpPr>
          <p:cNvPr id="7" name="Rectangle 6"/>
          <p:cNvSpPr/>
          <p:nvPr/>
        </p:nvSpPr>
        <p:spPr>
          <a:xfrm>
            <a:off x="6029740" y="4819326"/>
            <a:ext cx="73152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GB" sz="3600" b="1" dirty="0">
                <a:latin typeface="Agency FB" panose="020B0503020202020204" pitchFamily="34" charset="0"/>
              </a:rPr>
              <a:t>Final presentation 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9116" y="431483"/>
            <a:ext cx="4066937" cy="39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Team &amp; Supervision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49116" y="1200269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Submitted By: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9116" y="1592461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Aqeel Khan (22JZELE0461)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9116" y="1898333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Mashal Ahmad (22JZELE0466)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9116" y="2204204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Mobeen Dawood Khan (22JZELE0493)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31273" y="502146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31273" y="715863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Engr. Abid Ullah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23866" y="998250"/>
            <a:ext cx="6574750" cy="250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u="sng" dirty="0">
                <a:solidFill>
                  <a:srgbClr val="10101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abidullah@uetpeshawar.edu.pk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200" y="1360011"/>
            <a:ext cx="6807200" cy="555894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5883" y="780217"/>
            <a:ext cx="3597593" cy="449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115883" y="1499711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aims to develop a cost-effective, portable, and efficient anti-theft solution.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115883" y="1989773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115883" y="2272546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4"/>
          <p:cNvSpPr/>
          <p:nvPr/>
        </p:nvSpPr>
        <p:spPr>
          <a:xfrm>
            <a:off x="6115883" y="2408158"/>
            <a:ext cx="2248495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Design And Develop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115883" y="2797135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an anti-theft floor mat utilizing a Piezoelectric vibration sensor.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115883" y="3399592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15883" y="3682365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8"/>
          <p:cNvSpPr/>
          <p:nvPr/>
        </p:nvSpPr>
        <p:spPr>
          <a:xfrm>
            <a:off x="6115883" y="3817977"/>
            <a:ext cx="2700457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Interface And Communicate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115883" y="4206954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Arduino and NodeMCU (ESP8266) for signal processing and wireless communication.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115883" y="4809411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15883" y="5080754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115882" y="5204682"/>
            <a:ext cx="2248495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Alerts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115883" y="5616773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</a:t>
            </a:r>
            <a:r>
              <a:rPr lang="en-US" sz="14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pycharm</a:t>
            </a: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object detection and face recognition 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115883" y="6219230"/>
            <a:ext cx="179784" cy="224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Playfair Display Light" pitchFamily="34" charset="0"/>
                <a:ea typeface="Playfair Display Light" pitchFamily="34" charset="-122"/>
                <a:cs typeface="Playfair Display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15883" y="6502003"/>
            <a:ext cx="7885033" cy="2286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9" name="Text 16"/>
          <p:cNvSpPr/>
          <p:nvPr/>
        </p:nvSpPr>
        <p:spPr>
          <a:xfrm>
            <a:off x="6115883" y="6637615"/>
            <a:ext cx="2282071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9393C"/>
                </a:solidFill>
                <a:latin typeface="Playfair Display Bold" pitchFamily="34" charset="0"/>
              </a:rPr>
              <a:t>Real-time Alerts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115883" y="7026593"/>
            <a:ext cx="7885033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IFTTT webhooks to send instant Gmail alerts upon vibration or pressure detection</a:t>
            </a:r>
            <a:endParaRPr lang="en-US" sz="1400" dirty="0"/>
          </a:p>
        </p:txBody>
      </p:sp>
      <p:sp>
        <p:nvSpPr>
          <p:cNvPr id="23" name="Rectangle 22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776" y="389573"/>
            <a:ext cx="4232672" cy="3542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&amp; Software Essentials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95776" y="1097756"/>
            <a:ext cx="2406848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Requirements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495776" y="1522690"/>
            <a:ext cx="6646664" cy="2897267"/>
          </a:xfrm>
          <a:prstGeom prst="roundRect">
            <a:avLst>
              <a:gd name="adj" fmla="val 73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3396" y="1530310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45081" y="1622822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69776" y="1622822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3396" y="1942028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5081" y="2034540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UNO / Nano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69776" y="2034540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Reads analog signal from Piezo sensor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3396" y="2353747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5081" y="2446258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NodeMCU (ESP8266)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69776" y="2446258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Wi-Fi connectivity, sends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3396" y="2765465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45081" y="2857976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Piezoelectric Sensor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69776" y="2857976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vibration/mechanical stress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3396" y="3177183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5081" y="3269694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10kΩ Resistor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69776" y="3269694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Voltage divider circuit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3396" y="3588901"/>
            <a:ext cx="6631424" cy="41171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5081" y="3681413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Breadboard &amp; Wires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69776" y="3681413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Circuit connections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3396" y="4000619"/>
            <a:ext cx="6631424" cy="41171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5081" y="4093131"/>
            <a:ext cx="2033945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Supply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69776" y="4093131"/>
            <a:ext cx="4023479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Powers Arduino &amp; NodeMCU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5580" y="1097756"/>
            <a:ext cx="2298502" cy="265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Software Requirements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7495580" y="1370011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IDE (for coding)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95580" y="1622821"/>
            <a:ext cx="2562820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IFTTT Account (for Gmail alerts)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95580" y="1878944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Wi-Fi Connection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5580" y="2134677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Gmail Account (for receiving alerts)</a:t>
            </a:r>
            <a:endParaRPr lang="en-US" sz="11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31" y="2672953"/>
            <a:ext cx="5145929" cy="486330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95580" y="2415763"/>
            <a:ext cx="6646664" cy="226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OpenCV</a:t>
            </a: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+ Face recognition </a:t>
            </a:r>
            <a:endParaRPr lang="en-US" sz="1100" dirty="0"/>
          </a:p>
        </p:txBody>
      </p:sp>
      <p:sp>
        <p:nvSpPr>
          <p:cNvPr id="36" name="Rectangle 35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21" y="637185"/>
            <a:ext cx="6167120" cy="3473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6880" y="159965"/>
            <a:ext cx="297688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Simulations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90880"/>
            <a:ext cx="6284682" cy="33760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31466" y="4006674"/>
            <a:ext cx="61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piezo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someone on location 2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376006"/>
            <a:ext cx="6284682" cy="27579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31466" y="224167"/>
            <a:ext cx="3238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System Activated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720" y="4447469"/>
            <a:ext cx="6167120" cy="26864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2440" y="4023350"/>
            <a:ext cx="6169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piezo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someone on location 1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969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1" y="1974533"/>
            <a:ext cx="7556421" cy="212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4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Sentinel: Autonomous Face Recognition Security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93791" y="4441033"/>
            <a:ext cx="7556421" cy="18140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21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compact, responsive system that fuses piezoelectric triggers, Arduino Nano actuation, and Python/OpenCV face recognition to detect, track, and validate visitors — then respond automatically.</a:t>
            </a:r>
            <a:endParaRPr lang="en-US" sz="2160" dirty="0"/>
          </a:p>
        </p:txBody>
      </p:sp>
      <p:sp>
        <p:nvSpPr>
          <p:cNvPr id="5" name="Rectangle 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02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60552"/>
            <a:ext cx="677894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 Overview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4676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 at a glance: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085743"/>
            <a:ext cx="7556421" cy="3583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USB Webcam-CAM: captures and streams video (MJPEG/RTSP or HTTP frames)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transport: local Wi‑Fi, optional port forwarding for remote access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 (PyCharm): receives stream, decodes frames with OpenCV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face_recognition: encodes faces, compares against stored encodings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known → continue monitoring; unknown → raise alarm (notification, sound, record)</a:t>
            </a:r>
            <a:endParaRPr lang="en-US" sz="1750" dirty="0"/>
          </a:p>
        </p:txBody>
      </p:sp>
      <p:sp>
        <p:nvSpPr>
          <p:cNvPr id="6" name="Rectangle 5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33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1906"/>
            <a:ext cx="1253644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52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Concept: Bridging Physical and Digital Worlds</a:t>
            </a:r>
            <a:endParaRPr lang="en-US" sz="352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32509"/>
            <a:ext cx="1205984" cy="15074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3261" y="2932509"/>
            <a:ext cx="26691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16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Trigger: Sensor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2283261" y="3422928"/>
            <a:ext cx="2669142" cy="2177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7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Piezoelectric sensor senses vibration or pressure at floor and sends an interrupt to the Arduino Nano.</a:t>
            </a:r>
            <a:endParaRPr lang="en-US" sz="176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932509"/>
            <a:ext cx="1205984" cy="1507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5365" y="2932510"/>
            <a:ext cx="2669142" cy="708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16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Response: Actuation</a:t>
            </a:r>
            <a:endParaRPr lang="en-US" sz="2160" dirty="0"/>
          </a:p>
        </p:txBody>
      </p:sp>
      <p:sp>
        <p:nvSpPr>
          <p:cNvPr id="8" name="Text 4"/>
          <p:cNvSpPr/>
          <p:nvPr/>
        </p:nvSpPr>
        <p:spPr>
          <a:xfrm>
            <a:off x="6725365" y="3777258"/>
            <a:ext cx="2669142" cy="2177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7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Nano processes the sensor event and drives a motorized gimbal to orient the webcam toward the source.</a:t>
            </a:r>
            <a:endParaRPr lang="en-US" sz="176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932509"/>
            <a:ext cx="1205984" cy="1507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67467" y="2932510"/>
            <a:ext cx="2669142" cy="708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04000"/>
              </a:lnSpc>
            </a:pPr>
            <a:r>
              <a:rPr lang="en-US" sz="216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Intelligence: Recognition</a:t>
            </a:r>
            <a:endParaRPr lang="en-US" sz="2160" dirty="0"/>
          </a:p>
        </p:txBody>
      </p:sp>
      <p:sp>
        <p:nvSpPr>
          <p:cNvPr id="11" name="Text 6"/>
          <p:cNvSpPr/>
          <p:nvPr/>
        </p:nvSpPr>
        <p:spPr>
          <a:xfrm>
            <a:off x="11167467" y="3777258"/>
            <a:ext cx="2669142" cy="2540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7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(PyCharm) runs OpenCV + face_recognition to capture frames, extract encodings, and validate identities against a local database.</a:t>
            </a:r>
            <a:endParaRPr lang="en-US" sz="1760" dirty="0"/>
          </a:p>
        </p:txBody>
      </p:sp>
      <p:sp>
        <p:nvSpPr>
          <p:cNvPr id="12" name="Rectangle 11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674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29365"/>
            <a:ext cx="5778461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36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Hardware Architecture</a:t>
            </a:r>
            <a:endParaRPr lang="en-US" sz="336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43" y="2949416"/>
            <a:ext cx="5612606" cy="31803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04315" y="1710809"/>
            <a:ext cx="3385542" cy="2725818"/>
          </a:xfrm>
          <a:prstGeom prst="roundRect">
            <a:avLst>
              <a:gd name="adj" fmla="val 1190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50894" y="1957388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Input</a:t>
            </a:r>
            <a:endParaRPr lang="en-US" sz="2080" dirty="0"/>
          </a:p>
        </p:txBody>
      </p:sp>
      <p:sp>
        <p:nvSpPr>
          <p:cNvPr id="6" name="Text 3"/>
          <p:cNvSpPr/>
          <p:nvPr/>
        </p:nvSpPr>
        <p:spPr>
          <a:xfrm>
            <a:off x="7150895" y="2501146"/>
            <a:ext cx="2892386" cy="1351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Piezoelectric sensor (edge-mounted) generates analog pulses on impact or sustained pressure.</a:t>
            </a:r>
            <a:endParaRPr lang="en-US" sz="1680" dirty="0"/>
          </a:p>
        </p:txBody>
      </p:sp>
      <p:sp>
        <p:nvSpPr>
          <p:cNvPr id="7" name="Shape 4"/>
          <p:cNvSpPr/>
          <p:nvPr/>
        </p:nvSpPr>
        <p:spPr>
          <a:xfrm>
            <a:off x="10495835" y="1710809"/>
            <a:ext cx="3385542" cy="2725818"/>
          </a:xfrm>
          <a:prstGeom prst="roundRect">
            <a:avLst>
              <a:gd name="adj" fmla="val 1190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42414" y="1957388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</a:t>
            </a:r>
            <a:endParaRPr lang="en-US" sz="2080" dirty="0"/>
          </a:p>
        </p:txBody>
      </p:sp>
      <p:sp>
        <p:nvSpPr>
          <p:cNvPr id="9" name="Text 6"/>
          <p:cNvSpPr/>
          <p:nvPr/>
        </p:nvSpPr>
        <p:spPr>
          <a:xfrm>
            <a:off x="10742415" y="2501146"/>
            <a:ext cx="2892386" cy="1688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Nano reads analog threshold, debounces the signal, and issues servo PWM commands via libraries like Servo.h.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6904315" y="4642605"/>
            <a:ext cx="3385542" cy="2725818"/>
          </a:xfrm>
          <a:prstGeom prst="roundRect">
            <a:avLst>
              <a:gd name="adj" fmla="val 1190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50894" y="4889183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Vision</a:t>
            </a:r>
            <a:endParaRPr lang="en-US" sz="2080" dirty="0"/>
          </a:p>
        </p:txBody>
      </p:sp>
      <p:sp>
        <p:nvSpPr>
          <p:cNvPr id="12" name="Text 9"/>
          <p:cNvSpPr/>
          <p:nvPr/>
        </p:nvSpPr>
        <p:spPr>
          <a:xfrm>
            <a:off x="7150895" y="5432942"/>
            <a:ext cx="2892386" cy="1688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USB webcam mounted on a 2-axis gimbal provides HD frames (30–60 FPS) streamed to the Python host for immediate processing.</a:t>
            </a:r>
            <a:endParaRPr lang="en-US" sz="1680" dirty="0"/>
          </a:p>
        </p:txBody>
      </p:sp>
      <p:sp>
        <p:nvSpPr>
          <p:cNvPr id="13" name="Shape 10"/>
          <p:cNvSpPr/>
          <p:nvPr/>
        </p:nvSpPr>
        <p:spPr>
          <a:xfrm>
            <a:off x="10495835" y="4642605"/>
            <a:ext cx="3385542" cy="2725818"/>
          </a:xfrm>
          <a:prstGeom prst="roundRect">
            <a:avLst>
              <a:gd name="adj" fmla="val 1190"/>
            </a:avLst>
          </a:prstGeom>
          <a:solidFill>
            <a:srgbClr val="FBFAFF"/>
          </a:solidFill>
          <a:ln w="19050">
            <a:solidFill>
              <a:srgbClr val="D0CED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42414" y="4889183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&amp; Wiring</a:t>
            </a:r>
            <a:endParaRPr lang="en-US" sz="2080" dirty="0"/>
          </a:p>
        </p:txBody>
      </p:sp>
      <p:sp>
        <p:nvSpPr>
          <p:cNvPr id="15" name="Text 12"/>
          <p:cNvSpPr/>
          <p:nvPr/>
        </p:nvSpPr>
        <p:spPr>
          <a:xfrm>
            <a:off x="10742415" y="5432942"/>
            <a:ext cx="2892386" cy="1688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Separate regulated supplies for motors and logic; common ground and transient suppression for sensor lines.</a:t>
            </a:r>
            <a:endParaRPr lang="en-US" sz="1680" dirty="0"/>
          </a:p>
        </p:txBody>
      </p:sp>
      <p:sp>
        <p:nvSpPr>
          <p:cNvPr id="16" name="Rectangle 15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27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07638"/>
            <a:ext cx="656236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52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Intelligence Pipeline</a:t>
            </a:r>
            <a:endParaRPr lang="en-US" sz="352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1" y="2014777"/>
            <a:ext cx="7556421" cy="34003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18487" y="2156001"/>
            <a:ext cx="1322341" cy="20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Sensor Trigger</a:t>
            </a:r>
            <a:endParaRPr lang="en-US" sz="1280" dirty="0"/>
          </a:p>
        </p:txBody>
      </p:sp>
      <p:sp>
        <p:nvSpPr>
          <p:cNvPr id="6" name="Text 2"/>
          <p:cNvSpPr/>
          <p:nvPr/>
        </p:nvSpPr>
        <p:spPr>
          <a:xfrm>
            <a:off x="7418487" y="2418473"/>
            <a:ext cx="1322341" cy="32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Interrupt signals event</a:t>
            </a:r>
            <a:endParaRPr lang="en-US" sz="960" dirty="0"/>
          </a:p>
        </p:txBody>
      </p:sp>
      <p:sp>
        <p:nvSpPr>
          <p:cNvPr id="7" name="Text 3"/>
          <p:cNvSpPr/>
          <p:nvPr/>
        </p:nvSpPr>
        <p:spPr>
          <a:xfrm>
            <a:off x="8726297" y="4706230"/>
            <a:ext cx="1329608" cy="20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Camera Orient</a:t>
            </a:r>
            <a:endParaRPr lang="en-US" sz="1280" dirty="0"/>
          </a:p>
        </p:txBody>
      </p:sp>
      <p:sp>
        <p:nvSpPr>
          <p:cNvPr id="8" name="Text 4"/>
          <p:cNvSpPr/>
          <p:nvPr/>
        </p:nvSpPr>
        <p:spPr>
          <a:xfrm>
            <a:off x="8726297" y="4968702"/>
            <a:ext cx="1329608" cy="32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Arduino aims and captures frame</a:t>
            </a:r>
            <a:endParaRPr lang="en-US" sz="960" dirty="0"/>
          </a:p>
        </p:txBody>
      </p:sp>
      <p:sp>
        <p:nvSpPr>
          <p:cNvPr id="9" name="Text 5"/>
          <p:cNvSpPr/>
          <p:nvPr/>
        </p:nvSpPr>
        <p:spPr>
          <a:xfrm>
            <a:off x="10019575" y="2130571"/>
            <a:ext cx="1322342" cy="2043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Face Detection</a:t>
            </a:r>
            <a:endParaRPr lang="en-US" sz="1280" dirty="0"/>
          </a:p>
        </p:txBody>
      </p:sp>
      <p:sp>
        <p:nvSpPr>
          <p:cNvPr id="10" name="Text 6"/>
          <p:cNvSpPr/>
          <p:nvPr/>
        </p:nvSpPr>
        <p:spPr>
          <a:xfrm>
            <a:off x="10019575" y="2393042"/>
            <a:ext cx="1322342" cy="32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Detects faces and computes encodings</a:t>
            </a:r>
            <a:endParaRPr lang="en-US" sz="960" dirty="0"/>
          </a:p>
        </p:txBody>
      </p:sp>
      <p:sp>
        <p:nvSpPr>
          <p:cNvPr id="11" name="Text 7"/>
          <p:cNvSpPr/>
          <p:nvPr/>
        </p:nvSpPr>
        <p:spPr>
          <a:xfrm>
            <a:off x="11327386" y="4604058"/>
            <a:ext cx="1322341" cy="40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2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Matching &amp; Response</a:t>
            </a:r>
            <a:endParaRPr lang="en-US" sz="1280" dirty="0"/>
          </a:p>
        </p:txBody>
      </p:sp>
      <p:sp>
        <p:nvSpPr>
          <p:cNvPr id="12" name="Text 8"/>
          <p:cNvSpPr/>
          <p:nvPr/>
        </p:nvSpPr>
        <p:spPr>
          <a:xfrm>
            <a:off x="11327386" y="5070874"/>
            <a:ext cx="1322341" cy="326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9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encodings and emit verdict</a:t>
            </a:r>
            <a:endParaRPr lang="en-US" sz="960" dirty="0"/>
          </a:p>
        </p:txBody>
      </p:sp>
      <p:sp>
        <p:nvSpPr>
          <p:cNvPr id="13" name="Text 9"/>
          <p:cNvSpPr/>
          <p:nvPr/>
        </p:nvSpPr>
        <p:spPr>
          <a:xfrm>
            <a:off x="6280191" y="567023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76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interrupt to decision: sensor event → Arduino aims camera → Python captures frames, detects faces (Haar/SSD), computes encodings (face_recognition) → compares against authorized encodings and emits a verdict in milliseconds.</a:t>
            </a:r>
            <a:endParaRPr lang="en-US" sz="1760" dirty="0"/>
          </a:p>
        </p:txBody>
      </p:sp>
      <p:sp>
        <p:nvSpPr>
          <p:cNvPr id="14" name="Rectangle 13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5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70429"/>
            <a:ext cx="7423666" cy="47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96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Authorized vs. Unauthorized Flow</a:t>
            </a:r>
            <a:endParaRPr lang="en-US" sz="296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2089310"/>
            <a:ext cx="8420101" cy="47713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7035" y="1472565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4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44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034" y="1774864"/>
            <a:ext cx="4318397" cy="228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07034" y="1916192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4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Authorized</a:t>
            </a:r>
            <a:endParaRPr lang="en-US" sz="1840" dirty="0"/>
          </a:p>
        </p:txBody>
      </p:sp>
      <p:sp>
        <p:nvSpPr>
          <p:cNvPr id="7" name="Text 3"/>
          <p:cNvSpPr/>
          <p:nvPr/>
        </p:nvSpPr>
        <p:spPr>
          <a:xfrm>
            <a:off x="9607034" y="2376607"/>
            <a:ext cx="431839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44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 found: Log event (timestamp + image), send 'unlock' or 'track' command to Arduino, update local audit trail.</a:t>
            </a:r>
            <a:endParaRPr lang="en-US" sz="1440" dirty="0"/>
          </a:p>
        </p:txBody>
      </p:sp>
      <p:sp>
        <p:nvSpPr>
          <p:cNvPr id="8" name="Text 4"/>
          <p:cNvSpPr/>
          <p:nvPr/>
        </p:nvSpPr>
        <p:spPr>
          <a:xfrm>
            <a:off x="9607035" y="3528061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4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44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034" y="3811190"/>
            <a:ext cx="4318397" cy="228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7034" y="3971687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4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Unauthorized</a:t>
            </a:r>
            <a:endParaRPr lang="en-US" sz="1840" dirty="0"/>
          </a:p>
        </p:txBody>
      </p:sp>
      <p:sp>
        <p:nvSpPr>
          <p:cNvPr id="11" name="Text 6"/>
          <p:cNvSpPr/>
          <p:nvPr/>
        </p:nvSpPr>
        <p:spPr>
          <a:xfrm>
            <a:off x="9607034" y="4432101"/>
            <a:ext cx="431839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44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match: Capture multiple frames, escalate to alert protocols (visual, auditory, and remote notifications), and store images for review.</a:t>
            </a:r>
            <a:endParaRPr lang="en-US" sz="1440" dirty="0"/>
          </a:p>
        </p:txBody>
      </p:sp>
      <p:sp>
        <p:nvSpPr>
          <p:cNvPr id="12" name="Text 7"/>
          <p:cNvSpPr/>
          <p:nvPr/>
        </p:nvSpPr>
        <p:spPr>
          <a:xfrm>
            <a:off x="9607035" y="5583555"/>
            <a:ext cx="382667" cy="2391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40" dirty="0">
                <a:solidFill>
                  <a:srgbClr val="49495A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44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034" y="5847635"/>
            <a:ext cx="4318397" cy="228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07034" y="602718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84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Logging</a:t>
            </a:r>
            <a:endParaRPr lang="en-US" sz="1840" dirty="0"/>
          </a:p>
        </p:txBody>
      </p:sp>
      <p:sp>
        <p:nvSpPr>
          <p:cNvPr id="15" name="Text 9"/>
          <p:cNvSpPr/>
          <p:nvPr/>
        </p:nvSpPr>
        <p:spPr>
          <a:xfrm>
            <a:off x="9607034" y="6487597"/>
            <a:ext cx="4318397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3000"/>
              </a:lnSpc>
            </a:pPr>
            <a:r>
              <a:rPr lang="en-US" sz="144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events saved locally (SQLite or flat files) with hashed encoding references for privacy and tamper-evident timestamps.</a:t>
            </a:r>
            <a:endParaRPr lang="en-US" sz="1440" dirty="0"/>
          </a:p>
        </p:txBody>
      </p:sp>
      <p:sp>
        <p:nvSpPr>
          <p:cNvPr id="16" name="Rectangle 15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24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6642" y="710685"/>
            <a:ext cx="8356758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36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Future of Automated Security</a:t>
            </a:r>
            <a:endParaRPr lang="en-US" sz="3360" dirty="0"/>
          </a:p>
        </p:txBody>
      </p:sp>
      <p:sp>
        <p:nvSpPr>
          <p:cNvPr id="4" name="Shape 1"/>
          <p:cNvSpPr/>
          <p:nvPr/>
        </p:nvSpPr>
        <p:spPr>
          <a:xfrm>
            <a:off x="756642" y="1560314"/>
            <a:ext cx="3712368" cy="2920246"/>
          </a:xfrm>
          <a:prstGeom prst="roundRect">
            <a:avLst>
              <a:gd name="adj" fmla="val 111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972741" y="1776414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Scalability</a:t>
            </a:r>
            <a:endParaRPr lang="en-US" sz="2080" dirty="0"/>
          </a:p>
        </p:txBody>
      </p:sp>
      <p:sp>
        <p:nvSpPr>
          <p:cNvPr id="6" name="Text 3"/>
          <p:cNvSpPr/>
          <p:nvPr/>
        </p:nvSpPr>
        <p:spPr>
          <a:xfrm>
            <a:off x="972742" y="2237779"/>
            <a:ext cx="3280171" cy="20266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multiple sentinels with coordinated tracking, centralized logs, and federated model updates to scale from single doorway to campus coverage.</a:t>
            </a:r>
            <a:endParaRPr lang="en-US" sz="1680" dirty="0"/>
          </a:p>
        </p:txBody>
      </p:sp>
      <p:sp>
        <p:nvSpPr>
          <p:cNvPr id="7" name="Shape 4"/>
          <p:cNvSpPr/>
          <p:nvPr/>
        </p:nvSpPr>
        <p:spPr>
          <a:xfrm>
            <a:off x="4674989" y="1560314"/>
            <a:ext cx="3712368" cy="2920246"/>
          </a:xfrm>
          <a:prstGeom prst="roundRect">
            <a:avLst>
              <a:gd name="adj" fmla="val 111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891088" y="1776414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Integration</a:t>
            </a:r>
            <a:endParaRPr lang="en-US" sz="2080" dirty="0"/>
          </a:p>
        </p:txBody>
      </p:sp>
      <p:sp>
        <p:nvSpPr>
          <p:cNvPr id="9" name="Text 6"/>
          <p:cNvSpPr/>
          <p:nvPr/>
        </p:nvSpPr>
        <p:spPr>
          <a:xfrm>
            <a:off x="4891089" y="2237780"/>
            <a:ext cx="3280171" cy="1688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Fuse additional sensors — PIR, ultrasonic, door contacts — and ML models (anti-spoofing, liveness detection) for robust authorization.</a:t>
            </a:r>
            <a:endParaRPr lang="en-US" sz="1680" dirty="0"/>
          </a:p>
        </p:txBody>
      </p:sp>
      <p:sp>
        <p:nvSpPr>
          <p:cNvPr id="10" name="Shape 7"/>
          <p:cNvSpPr/>
          <p:nvPr/>
        </p:nvSpPr>
        <p:spPr>
          <a:xfrm>
            <a:off x="756643" y="4686538"/>
            <a:ext cx="7630715" cy="1569125"/>
          </a:xfrm>
          <a:prstGeom prst="roundRect">
            <a:avLst>
              <a:gd name="adj" fmla="val 2067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972741" y="4902638"/>
            <a:ext cx="2702362" cy="337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08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Goals</a:t>
            </a:r>
            <a:endParaRPr lang="en-US" sz="2080" dirty="0"/>
          </a:p>
        </p:txBody>
      </p:sp>
      <p:sp>
        <p:nvSpPr>
          <p:cNvPr id="12" name="Text 9"/>
          <p:cNvSpPr/>
          <p:nvPr/>
        </p:nvSpPr>
        <p:spPr>
          <a:xfrm>
            <a:off x="972741" y="5364004"/>
            <a:ext cx="7198518" cy="67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a responsive, privacy-aware system that minimizes false positives, accelerates response, and preserves auditability.</a:t>
            </a:r>
            <a:endParaRPr lang="en-US" sz="1680" dirty="0"/>
          </a:p>
        </p:txBody>
      </p:sp>
      <p:sp>
        <p:nvSpPr>
          <p:cNvPr id="13" name="Shape 10"/>
          <p:cNvSpPr/>
          <p:nvPr/>
        </p:nvSpPr>
        <p:spPr>
          <a:xfrm>
            <a:off x="756643" y="6541413"/>
            <a:ext cx="7630715" cy="16192"/>
          </a:xfrm>
          <a:prstGeom prst="rect">
            <a:avLst/>
          </a:prstGeom>
          <a:solidFill>
            <a:srgbClr val="49495A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56643" y="6843356"/>
            <a:ext cx="7630715" cy="67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30000"/>
              </a:lnSpc>
            </a:pPr>
            <a:r>
              <a:rPr lang="en-US" sz="168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Next steps: Prototype wiring diagram, Arduino firmware sketch, Python proof-of-concept, integration test plan.</a:t>
            </a:r>
            <a:endParaRPr lang="en-US" sz="1680" dirty="0"/>
          </a:p>
        </p:txBody>
      </p:sp>
      <p:sp>
        <p:nvSpPr>
          <p:cNvPr id="15" name="Rectangle 1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Nowshehra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459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4630400" cy="744301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7443019"/>
            <a:ext cx="14630400" cy="78658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Engineering &amp; Technology Peshawar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Jalozai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Campus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7360" y="7443019"/>
            <a:ext cx="1463040" cy="786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19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862</Words>
  <Application>Microsoft Office PowerPoint</Application>
  <PresentationFormat>Custom</PresentationFormat>
  <Paragraphs>127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Open Sans</vt:lpstr>
      <vt:lpstr>Agency FB</vt:lpstr>
      <vt:lpstr>Playfair Display Light</vt:lpstr>
      <vt:lpstr>Inter Bold</vt:lpstr>
      <vt:lpstr>Libre Baskerville</vt:lpstr>
      <vt:lpstr>Inter</vt:lpstr>
      <vt:lpstr>Times New Roman</vt:lpstr>
      <vt:lpstr>Arial</vt:lpstr>
      <vt:lpstr>Playfair Display Bold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AQEEL</dc:creator>
  <cp:lastModifiedBy>Aqeel Khan</cp:lastModifiedBy>
  <cp:revision>17</cp:revision>
  <dcterms:created xsi:type="dcterms:W3CDTF">2025-12-02T11:51:51Z</dcterms:created>
  <dcterms:modified xsi:type="dcterms:W3CDTF">2026-06-08T05:04:34Z</dcterms:modified>
</cp:coreProperties>
</file>